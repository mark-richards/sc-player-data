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3" r:id="rId7"/>
    <p:sldId id="266" r:id="rId8"/>
    <p:sldId id="267" r:id="rId9"/>
    <p:sldId id="269"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05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7" d="100"/>
          <a:sy n="147" d="100"/>
        </p:scale>
        <p:origin x="120" y="19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086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you've watched Moneyball. Billy Beane walked into a room full of scouts who trusted their gut, and he said: 'No. We're using the data.' That's kind of what I've been doing in my living room on weekends — except instead of the Oakland A's, it's my SuperCoach fantasy footy team. And instead of on-base percentage, it's a LightGBM model predicting AFL player scores. Let me show you what I built.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I dive in — let's get a feel for the room. Hands up if you play any kind of fantasy sport. Keep it up if you've ever built something in your own time — a script, a dashboard, a little side project. And of course — who genuinely enjoyed Moneyball? Good. You'll get the references today.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the uninitiated — SuperCoach is a fantasy footy game. You draft or pick a squad of AFL players, and each week they earn points based on what they actually do on the field. Kicks, marks, tackles, handballs — all converted into a score. The goal is to have the highest-scoring team in your league each week. There are about 800 players to choose from. The question is: who do you pick?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honest truth — I was making decisions based on vibes. I'd scroll Twitter, read a footy forum, and pick whoever sounded hot. Sound familiar? That's exactly what the scouts in Moneyball were doing. And just like Billy Beane, I got sick of it. I figured: I work in data. I know how to build stuff. Why am I not using that here?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here's what I actually built. It starts with a web scraper that pulls match data every week. That feeds into a data pipeline that cleans and processes everything. The clean data goes into a machine learning model that predicts player scores. And the output? A weekly newsletter and a live web dashboard I built myself. All in Python, all running on my own machine, all in my own time.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CUE — switch to browser now.</a:t>
            </a:r>
          </a:p>
          <a:p>
            <a:endParaRPr/>
          </a:p>
          <a:p>
            <a:r>
              <a:t>Show in order:</a:t>
            </a:r>
          </a:p>
          <a:p>
            <a:r>
              <a:t>1. Web dashboard — live league standings, player scores, team view.</a:t>
            </a:r>
          </a:p>
          <a:p>
            <a:r>
              <a:t>   Say: 'This is running on Flask, a Python web framework. Auto-refreshes from the API. I built this myself.'</a:t>
            </a:r>
          </a:p>
          <a:p>
            <a:endParaRPr/>
          </a:p>
          <a:p>
            <a:r>
              <a:t>2. Weekly newsletter — open latest output.</a:t>
            </a:r>
          </a:p>
          <a:p>
            <a:r>
              <a:t>   Say: 'Every week this generates automatically. It recommends which free agents to pick up, flags players to drop, and highlights the ceiling chasers — the players most likely to go huge.'</a:t>
            </a:r>
          </a:p>
          <a:p>
            <a:endParaRPr/>
          </a:p>
          <a:p>
            <a:r>
              <a:t>Return to slides after ~2 minutes.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Moneyball moment. In the film, Billy Beane didn't just use better stats — he built a system that found value where others couldn't see it. That's exactly what this does. Instead of on-base percentage, I use Ceiling Index. Instead of undervalued players, I'm looking for underpriced free agents. The principle is identical: replace intuition with a repeatable, data-driven process.</a:t>
            </a:r>
          </a:p>
          <a:p>
            <a:endParaRPr/>
          </a:p>
          <a:p>
            <a:r>
              <a:t>QUESTION (pause): Pete Brand in Moneyball used first principles thinking to see what the scouts couldn't. Where in your day job are you still relying on gut feel when you could be using data?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None of this is exotic. Web scraping is just API calls and HTML parsing — you do that every time you pull data into Power BI. The data pipeline is the same logic as any Power Automate flow. The ML model is the same class of tool we use for forecasting at work. The newsletter is a scheduled report. The skills are identical — I just learned them by doing something I actually cared about.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 not standing up here to show off. I'm standing up here because I want you to do this too. The biggest thing I learned? Just start. The scraper was 30 lines of Python. The first version of the model was terrible. But I built on it week by week because I cared about the outcome. Pick something you'd actually use, and go. And use AI to help you — that's the whole point of the tools we have now.</a:t>
            </a:r>
          </a:p>
          <a:p>
            <a:endParaRPr/>
          </a:p>
          <a:p>
            <a:r>
              <a:t>SHOW OF HANDS: Who here has a project idea they've been sitting on? Keep your hand up if the only thing stopping you is not knowing where to start.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057"/>
        </a:solidFill>
        <a:effectLst/>
      </p:bgPr>
    </p:bg>
    <p:spTree>
      <p:nvGrpSpPr>
        <p:cNvPr id="1" name=""/>
        <p:cNvGrpSpPr/>
        <p:nvPr/>
      </p:nvGrpSpPr>
      <p:grpSpPr>
        <a:xfrm>
          <a:off x="0" y="0"/>
          <a:ext cx="0" cy="0"/>
          <a:chOff x="0" y="0"/>
          <a:chExt cx="0" cy="0"/>
        </a:xfrm>
      </p:grpSpPr>
      <p:sp>
        <p:nvSpPr>
          <p:cNvPr id="2" name="TextBox 1"/>
          <p:cNvSpPr txBox="1"/>
          <p:nvPr/>
        </p:nvSpPr>
        <p:spPr>
          <a:xfrm>
            <a:off x="548640" y="2011680"/>
            <a:ext cx="10972800" cy="1569660"/>
          </a:xfrm>
          <a:prstGeom prst="rect">
            <a:avLst/>
          </a:prstGeom>
          <a:noFill/>
        </p:spPr>
        <p:txBody>
          <a:bodyPr wrap="square">
            <a:spAutoFit/>
          </a:bodyPr>
          <a:lstStyle/>
          <a:p>
            <a:pPr algn="l"/>
            <a:r>
              <a:rPr lang="en-AU" sz="4800" b="1" dirty="0">
                <a:solidFill>
                  <a:srgbClr val="FFFFFF"/>
                </a:solidFill>
                <a:latin typeface="Arial"/>
              </a:rPr>
              <a:t>Moneyball </a:t>
            </a:r>
          </a:p>
          <a:p>
            <a:pPr algn="l"/>
            <a:r>
              <a:rPr lang="en-AU" sz="4800" b="1" dirty="0">
                <a:solidFill>
                  <a:srgbClr val="FFFFFF"/>
                </a:solidFill>
                <a:latin typeface="Arial"/>
              </a:rPr>
              <a:t>&amp; Personal projects</a:t>
            </a:r>
            <a:endParaRPr sz="4800" b="1" dirty="0">
              <a:solidFill>
                <a:srgbClr val="FFFFFF"/>
              </a:solidFill>
              <a:latin typeface="Arial"/>
            </a:endParaRPr>
          </a:p>
        </p:txBody>
      </p:sp>
      <p:sp>
        <p:nvSpPr>
          <p:cNvPr id="3" name="TextBox 2"/>
          <p:cNvSpPr txBox="1"/>
          <p:nvPr/>
        </p:nvSpPr>
        <p:spPr>
          <a:xfrm>
            <a:off x="548640" y="4206240"/>
            <a:ext cx="10972800" cy="430887"/>
          </a:xfrm>
          <a:prstGeom prst="rect">
            <a:avLst/>
          </a:prstGeom>
          <a:noFill/>
        </p:spPr>
        <p:txBody>
          <a:bodyPr wrap="square">
            <a:spAutoFit/>
          </a:bodyPr>
          <a:lstStyle/>
          <a:p>
            <a:pPr algn="l"/>
            <a:r>
              <a:rPr sz="2200" b="1" dirty="0">
                <a:solidFill>
                  <a:srgbClr val="6FB1C8"/>
                </a:solidFill>
                <a:latin typeface="Arial"/>
              </a:rPr>
              <a:t>A footy obsession</a:t>
            </a:r>
            <a:r>
              <a:rPr lang="en-AU" sz="2200" b="1" dirty="0">
                <a:solidFill>
                  <a:srgbClr val="6FB1C8"/>
                </a:solidFill>
                <a:latin typeface="Arial"/>
              </a:rPr>
              <a:t>… and a</a:t>
            </a:r>
            <a:r>
              <a:rPr sz="2200" b="1" dirty="0">
                <a:solidFill>
                  <a:srgbClr val="6FB1C8"/>
                </a:solidFill>
                <a:latin typeface="Arial"/>
              </a:rPr>
              <a:t> lot of</a:t>
            </a:r>
            <a:r>
              <a:rPr lang="en-AU" sz="2200" b="1" dirty="0">
                <a:solidFill>
                  <a:srgbClr val="6FB1C8"/>
                </a:solidFill>
                <a:latin typeface="Arial"/>
              </a:rPr>
              <a:t> vibe coding</a:t>
            </a:r>
            <a:r>
              <a:rPr sz="2200" b="1" dirty="0">
                <a:solidFill>
                  <a:srgbClr val="6FB1C8"/>
                </a:solidFill>
                <a:latin typeface="Arial"/>
              </a:rPr>
              <a:t>.</a:t>
            </a:r>
          </a:p>
        </p:txBody>
      </p:sp>
      <p:pic>
        <p:nvPicPr>
          <p:cNvPr id="1026" name="Picture 2">
            <a:extLst>
              <a:ext uri="{FF2B5EF4-FFF2-40B4-BE49-F238E27FC236}">
                <a16:creationId xmlns:a16="http://schemas.microsoft.com/office/drawing/2014/main" id="{DB814663-5479-60D3-FBC5-204AE14D17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3808" y="297979"/>
            <a:ext cx="4257632" cy="59466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584775"/>
          </a:xfrm>
          <a:prstGeom prst="rect">
            <a:avLst/>
          </a:prstGeom>
          <a:noFill/>
        </p:spPr>
        <p:txBody>
          <a:bodyPr wrap="square">
            <a:spAutoFit/>
          </a:bodyPr>
          <a:lstStyle/>
          <a:p>
            <a:pPr algn="l"/>
            <a:r>
              <a:rPr lang="en-AU" sz="3200" b="1" dirty="0">
                <a:solidFill>
                  <a:srgbClr val="003057"/>
                </a:solidFill>
                <a:latin typeface="Arial"/>
              </a:rPr>
              <a:t>Show of hands</a:t>
            </a:r>
            <a:endParaRPr sz="3200" b="1" dirty="0">
              <a:solidFill>
                <a:srgbClr val="003057"/>
              </a:solidFill>
              <a:latin typeface="Arial"/>
            </a:endParaRPr>
          </a:p>
        </p:txBody>
      </p:sp>
      <p:sp>
        <p:nvSpPr>
          <p:cNvPr id="4" name="TextBox 3"/>
          <p:cNvSpPr txBox="1"/>
          <p:nvPr/>
        </p:nvSpPr>
        <p:spPr>
          <a:xfrm>
            <a:off x="457200" y="1691640"/>
            <a:ext cx="11247120" cy="2195473"/>
          </a:xfrm>
          <a:prstGeom prst="rect">
            <a:avLst/>
          </a:prstGeom>
          <a:noFill/>
        </p:spPr>
        <p:txBody>
          <a:bodyPr wrap="square">
            <a:spAutoFit/>
          </a:bodyPr>
          <a:lstStyle/>
          <a:p>
            <a:pPr>
              <a:spcBef>
                <a:spcPts val="400"/>
              </a:spcBef>
            </a:pPr>
            <a:r>
              <a:rPr sz="2000" dirty="0">
                <a:solidFill>
                  <a:srgbClr val="003057"/>
                </a:solidFill>
                <a:latin typeface="Arial"/>
              </a:rPr>
              <a:t>🙋 Who here plays </a:t>
            </a:r>
            <a:r>
              <a:rPr lang="en-AU" sz="2000" dirty="0">
                <a:solidFill>
                  <a:srgbClr val="003057"/>
                </a:solidFill>
                <a:latin typeface="Arial"/>
              </a:rPr>
              <a:t>or has played </a:t>
            </a:r>
            <a:r>
              <a:rPr sz="2000" dirty="0">
                <a:solidFill>
                  <a:srgbClr val="003057"/>
                </a:solidFill>
                <a:latin typeface="Arial"/>
              </a:rPr>
              <a:t>fantasy sport? (</a:t>
            </a:r>
            <a:r>
              <a:rPr sz="2000" dirty="0" err="1">
                <a:solidFill>
                  <a:srgbClr val="003057"/>
                </a:solidFill>
                <a:latin typeface="Arial"/>
              </a:rPr>
              <a:t>SuperCoach</a:t>
            </a:r>
            <a:r>
              <a:rPr sz="2000" dirty="0">
                <a:solidFill>
                  <a:srgbClr val="003057"/>
                </a:solidFill>
                <a:latin typeface="Arial"/>
              </a:rPr>
              <a:t>, AFL Fantasy</a:t>
            </a:r>
            <a:r>
              <a:rPr lang="en-AU" sz="2000" dirty="0">
                <a:solidFill>
                  <a:srgbClr val="003057"/>
                </a:solidFill>
                <a:latin typeface="Arial"/>
              </a:rPr>
              <a:t>, </a:t>
            </a:r>
            <a:r>
              <a:rPr sz="2000" dirty="0">
                <a:solidFill>
                  <a:srgbClr val="003057"/>
                </a:solidFill>
                <a:latin typeface="Arial"/>
              </a:rPr>
              <a:t>NRL, anything)</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 Who's done a personal coding or data project outside of work?</a:t>
            </a:r>
          </a:p>
          <a:p>
            <a:pPr>
              <a:spcBef>
                <a:spcPts val="400"/>
              </a:spcBef>
            </a:pPr>
            <a:endParaRPr lang="en-AU" sz="2000" dirty="0">
              <a:solidFill>
                <a:srgbClr val="003057"/>
              </a:solidFill>
              <a:latin typeface="Arial"/>
            </a:endParaRPr>
          </a:p>
          <a:p>
            <a:pPr>
              <a:spcBef>
                <a:spcPts val="400"/>
              </a:spcBef>
            </a:pPr>
            <a:r>
              <a:rPr sz="2000" dirty="0">
                <a:solidFill>
                  <a:srgbClr val="003057"/>
                </a:solidFill>
                <a:latin typeface="Arial"/>
              </a:rPr>
              <a:t>🙋 Who thought Moneyball was </a:t>
            </a:r>
            <a:r>
              <a:rPr lang="en-AU" sz="2000" dirty="0">
                <a:solidFill>
                  <a:srgbClr val="003057"/>
                </a:solidFill>
                <a:latin typeface="Arial"/>
              </a:rPr>
              <a:t>a</a:t>
            </a:r>
            <a:r>
              <a:rPr sz="2000" dirty="0">
                <a:solidFill>
                  <a:srgbClr val="003057"/>
                </a:solidFill>
                <a:latin typeface="Arial"/>
              </a:rPr>
              <a:t> great film?</a:t>
            </a:r>
            <a:endParaRPr lang="en-AU" sz="2000" dirty="0">
              <a:solidFill>
                <a:srgbClr val="003057"/>
              </a:solidFill>
              <a:latin typeface="Arial"/>
            </a:endParaRPr>
          </a:p>
          <a:p>
            <a:pPr>
              <a:spcBef>
                <a:spcPts val="400"/>
              </a:spcBef>
            </a:pPr>
            <a:r>
              <a:rPr lang="en-AU" sz="2000" dirty="0">
                <a:solidFill>
                  <a:srgbClr val="003057"/>
                </a:solidFill>
                <a:latin typeface="Arial"/>
              </a:rPr>
              <a:t>Why?</a:t>
            </a:r>
          </a:p>
        </p:txBody>
      </p:sp>
      <p:pic>
        <p:nvPicPr>
          <p:cNvPr id="6" name="Picture 5">
            <a:extLst>
              <a:ext uri="{FF2B5EF4-FFF2-40B4-BE49-F238E27FC236}">
                <a16:creationId xmlns:a16="http://schemas.microsoft.com/office/drawing/2014/main" id="{786A6DA2-4EFA-F590-AF26-9D267425753D}"/>
              </a:ext>
            </a:extLst>
          </p:cNvPr>
          <p:cNvPicPr>
            <a:picLocks noChangeAspect="1"/>
          </p:cNvPicPr>
          <p:nvPr/>
        </p:nvPicPr>
        <p:blipFill>
          <a:blip r:embed="rId3"/>
          <a:stretch>
            <a:fillRect/>
          </a:stretch>
        </p:blipFill>
        <p:spPr>
          <a:xfrm>
            <a:off x="6381617" y="3070779"/>
            <a:ext cx="5398553" cy="3613139"/>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584775"/>
          </a:xfrm>
          <a:prstGeom prst="rect">
            <a:avLst/>
          </a:prstGeom>
          <a:noFill/>
        </p:spPr>
        <p:txBody>
          <a:bodyPr wrap="square">
            <a:spAutoFit/>
          </a:bodyPr>
          <a:lstStyle/>
          <a:p>
            <a:pPr algn="l"/>
            <a:r>
              <a:rPr sz="3200" b="1" dirty="0" err="1">
                <a:solidFill>
                  <a:srgbClr val="003057"/>
                </a:solidFill>
                <a:latin typeface="Arial"/>
              </a:rPr>
              <a:t>SuperCoach</a:t>
            </a:r>
            <a:r>
              <a:rPr lang="en-AU" sz="3200" b="1" dirty="0">
                <a:solidFill>
                  <a:srgbClr val="003057"/>
                </a:solidFill>
                <a:latin typeface="Arial"/>
              </a:rPr>
              <a:t> Draft</a:t>
            </a:r>
            <a:r>
              <a:rPr sz="3200" b="1" dirty="0">
                <a:solidFill>
                  <a:srgbClr val="003057"/>
                </a:solidFill>
                <a:latin typeface="Arial"/>
              </a:rPr>
              <a:t> is fantasy footy. Here's how it works.</a:t>
            </a:r>
          </a:p>
        </p:txBody>
      </p:sp>
      <p:sp>
        <p:nvSpPr>
          <p:cNvPr id="3" name="TextBox 2"/>
          <p:cNvSpPr txBox="1"/>
          <p:nvPr/>
        </p:nvSpPr>
        <p:spPr>
          <a:xfrm>
            <a:off x="457200" y="1097280"/>
            <a:ext cx="11247120" cy="369332"/>
          </a:xfrm>
          <a:prstGeom prst="rect">
            <a:avLst/>
          </a:prstGeom>
          <a:noFill/>
        </p:spPr>
        <p:txBody>
          <a:bodyPr wrap="square">
            <a:spAutoFit/>
          </a:bodyPr>
          <a:lstStyle/>
          <a:p>
            <a:pPr algn="l"/>
            <a:r>
              <a:rPr sz="1800" b="1" dirty="0">
                <a:solidFill>
                  <a:srgbClr val="6FB1C8"/>
                </a:solidFill>
                <a:latin typeface="Arial"/>
              </a:rPr>
              <a:t>800+ AFL players</a:t>
            </a:r>
            <a:r>
              <a:rPr lang="en-AU" sz="1800" b="1" dirty="0">
                <a:solidFill>
                  <a:srgbClr val="6FB1C8"/>
                </a:solidFill>
                <a:latin typeface="Arial"/>
              </a:rPr>
              <a:t> available</a:t>
            </a:r>
            <a:r>
              <a:rPr sz="1800" b="1" dirty="0">
                <a:solidFill>
                  <a:srgbClr val="6FB1C8"/>
                </a:solidFill>
                <a:latin typeface="Arial"/>
              </a:rPr>
              <a:t>. One job: pick the best team.</a:t>
            </a:r>
          </a:p>
        </p:txBody>
      </p:sp>
      <p:sp>
        <p:nvSpPr>
          <p:cNvPr id="4" name="TextBox 3"/>
          <p:cNvSpPr txBox="1"/>
          <p:nvPr/>
        </p:nvSpPr>
        <p:spPr>
          <a:xfrm>
            <a:off x="457200" y="1691640"/>
            <a:ext cx="5226050" cy="3016210"/>
          </a:xfrm>
          <a:prstGeom prst="rect">
            <a:avLst/>
          </a:prstGeom>
          <a:noFill/>
        </p:spPr>
        <p:txBody>
          <a:bodyPr wrap="square">
            <a:spAutoFit/>
          </a:bodyPr>
          <a:lstStyle/>
          <a:p>
            <a:pPr marL="342900" indent="-342900">
              <a:spcBef>
                <a:spcPts val="400"/>
              </a:spcBef>
              <a:buFont typeface="Arial" panose="020B0604020202020204" pitchFamily="34" charset="0"/>
              <a:buChar char="•"/>
            </a:pPr>
            <a:r>
              <a:rPr sz="2000" dirty="0">
                <a:solidFill>
                  <a:srgbClr val="003057"/>
                </a:solidFill>
                <a:latin typeface="Arial"/>
              </a:rPr>
              <a:t>Each real AFL player earns points based on their stats each week (kicks, marks, tackles)</a:t>
            </a:r>
          </a:p>
          <a:p>
            <a:pPr marL="342900" indent="-342900">
              <a:spcBef>
                <a:spcPts val="400"/>
              </a:spcBef>
              <a:buFont typeface="Arial" panose="020B0604020202020204" pitchFamily="34" charset="0"/>
              <a:buChar char="•"/>
            </a:pPr>
            <a:r>
              <a:rPr sz="2000" dirty="0">
                <a:solidFill>
                  <a:srgbClr val="003057"/>
                </a:solidFill>
                <a:latin typeface="Arial"/>
              </a:rPr>
              <a:t>You pick a squad</a:t>
            </a:r>
            <a:r>
              <a:rPr lang="en-AU" sz="2000" dirty="0">
                <a:solidFill>
                  <a:srgbClr val="003057"/>
                </a:solidFill>
                <a:latin typeface="Arial"/>
              </a:rPr>
              <a:t> -</a:t>
            </a:r>
            <a:r>
              <a:rPr sz="2000" dirty="0">
                <a:solidFill>
                  <a:srgbClr val="003057"/>
                </a:solidFill>
                <a:latin typeface="Arial"/>
              </a:rPr>
              <a:t> on-field starters + bench</a:t>
            </a:r>
          </a:p>
          <a:p>
            <a:pPr marL="342900" indent="-342900">
              <a:spcBef>
                <a:spcPts val="400"/>
              </a:spcBef>
              <a:buFont typeface="Arial" panose="020B0604020202020204" pitchFamily="34" charset="0"/>
              <a:buChar char="•"/>
            </a:pPr>
            <a:r>
              <a:rPr sz="2000" dirty="0">
                <a:solidFill>
                  <a:srgbClr val="003057"/>
                </a:solidFill>
                <a:latin typeface="Arial"/>
              </a:rPr>
              <a:t>Trade players in and out each week to </a:t>
            </a:r>
            <a:r>
              <a:rPr sz="2000" dirty="0" err="1">
                <a:solidFill>
                  <a:srgbClr val="003057"/>
                </a:solidFill>
                <a:latin typeface="Arial"/>
              </a:rPr>
              <a:t>maximise</a:t>
            </a:r>
            <a:r>
              <a:rPr sz="2000" dirty="0">
                <a:solidFill>
                  <a:srgbClr val="003057"/>
                </a:solidFill>
                <a:latin typeface="Arial"/>
              </a:rPr>
              <a:t> your score</a:t>
            </a:r>
          </a:p>
          <a:p>
            <a:pPr marL="342900" indent="-342900">
              <a:spcBef>
                <a:spcPts val="400"/>
              </a:spcBef>
              <a:buFont typeface="Arial" panose="020B0604020202020204" pitchFamily="34" charset="0"/>
              <a:buChar char="•"/>
            </a:pPr>
            <a:r>
              <a:rPr sz="2000" dirty="0">
                <a:solidFill>
                  <a:srgbClr val="003057"/>
                </a:solidFill>
                <a:latin typeface="Arial"/>
              </a:rPr>
              <a:t>Compete against others in a league — highest score wins</a:t>
            </a:r>
          </a:p>
        </p:txBody>
      </p:sp>
      <p:pic>
        <p:nvPicPr>
          <p:cNvPr id="6" name="Picture 5">
            <a:extLst>
              <a:ext uri="{FF2B5EF4-FFF2-40B4-BE49-F238E27FC236}">
                <a16:creationId xmlns:a16="http://schemas.microsoft.com/office/drawing/2014/main" id="{C93A87FA-5874-0EB4-7411-76B3057EC94A}"/>
              </a:ext>
            </a:extLst>
          </p:cNvPr>
          <p:cNvPicPr>
            <a:picLocks noChangeAspect="1"/>
          </p:cNvPicPr>
          <p:nvPr/>
        </p:nvPicPr>
        <p:blipFill>
          <a:blip r:embed="rId3"/>
          <a:stretch>
            <a:fillRect/>
          </a:stretch>
        </p:blipFill>
        <p:spPr>
          <a:xfrm>
            <a:off x="7016750" y="1022977"/>
            <a:ext cx="4587875" cy="1220184"/>
          </a:xfrm>
          <a:prstGeom prst="rect">
            <a:avLst/>
          </a:prstGeom>
        </p:spPr>
      </p:pic>
      <p:pic>
        <p:nvPicPr>
          <p:cNvPr id="8" name="Picture 7">
            <a:extLst>
              <a:ext uri="{FF2B5EF4-FFF2-40B4-BE49-F238E27FC236}">
                <a16:creationId xmlns:a16="http://schemas.microsoft.com/office/drawing/2014/main" id="{F0DF8F3B-6215-7955-0601-C9162035466A}"/>
              </a:ext>
            </a:extLst>
          </p:cNvPr>
          <p:cNvPicPr>
            <a:picLocks noChangeAspect="1"/>
          </p:cNvPicPr>
          <p:nvPr/>
        </p:nvPicPr>
        <p:blipFill>
          <a:blip r:embed="rId4"/>
          <a:stretch>
            <a:fillRect/>
          </a:stretch>
        </p:blipFill>
        <p:spPr>
          <a:xfrm>
            <a:off x="7016750" y="2520914"/>
            <a:ext cx="4358611" cy="3917986"/>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584775"/>
          </a:xfrm>
          <a:prstGeom prst="rect">
            <a:avLst/>
          </a:prstGeom>
          <a:noFill/>
        </p:spPr>
        <p:txBody>
          <a:bodyPr wrap="square">
            <a:spAutoFit/>
          </a:bodyPr>
          <a:lstStyle/>
          <a:p>
            <a:pPr algn="l"/>
            <a:r>
              <a:rPr sz="3200" b="1" dirty="0">
                <a:solidFill>
                  <a:srgbClr val="003057"/>
                </a:solidFill>
                <a:latin typeface="Arial"/>
              </a:rPr>
              <a:t>I</a:t>
            </a:r>
            <a:r>
              <a:rPr lang="en-AU" sz="3200" b="1" dirty="0">
                <a:solidFill>
                  <a:srgbClr val="003057"/>
                </a:solidFill>
                <a:latin typeface="Arial"/>
              </a:rPr>
              <a:t> was </a:t>
            </a:r>
            <a:r>
              <a:rPr sz="3200" b="1" dirty="0">
                <a:solidFill>
                  <a:srgbClr val="003057"/>
                </a:solidFill>
                <a:latin typeface="Arial"/>
              </a:rPr>
              <a:t>losing</a:t>
            </a:r>
            <a:r>
              <a:rPr lang="en-AU" sz="3200" b="1" dirty="0">
                <a:solidFill>
                  <a:srgbClr val="003057"/>
                </a:solidFill>
                <a:latin typeface="Arial"/>
              </a:rPr>
              <a:t>… a</a:t>
            </a:r>
            <a:r>
              <a:rPr sz="3200" b="1" dirty="0" err="1">
                <a:solidFill>
                  <a:srgbClr val="003057"/>
                </a:solidFill>
                <a:latin typeface="Arial"/>
              </a:rPr>
              <a:t>nd</a:t>
            </a:r>
            <a:r>
              <a:rPr sz="3200" b="1" dirty="0">
                <a:solidFill>
                  <a:srgbClr val="003057"/>
                </a:solidFill>
                <a:latin typeface="Arial"/>
              </a:rPr>
              <a:t> I was guessing.</a:t>
            </a:r>
          </a:p>
        </p:txBody>
      </p:sp>
      <p:sp>
        <p:nvSpPr>
          <p:cNvPr id="3" name="TextBox 2"/>
          <p:cNvSpPr txBox="1"/>
          <p:nvPr/>
        </p:nvSpPr>
        <p:spPr>
          <a:xfrm>
            <a:off x="457200" y="1097280"/>
            <a:ext cx="11247120" cy="457200"/>
          </a:xfrm>
          <a:prstGeom prst="rect">
            <a:avLst/>
          </a:prstGeom>
          <a:noFill/>
        </p:spPr>
        <p:txBody>
          <a:bodyPr wrap="square">
            <a:spAutoFit/>
          </a:bodyPr>
          <a:lstStyle/>
          <a:p>
            <a:pPr algn="l"/>
            <a:r>
              <a:rPr sz="1800" b="1">
                <a:solidFill>
                  <a:srgbClr val="6FB1C8"/>
                </a:solidFill>
                <a:latin typeface="Arial"/>
              </a:rPr>
              <a:t>There had to be a better way.</a:t>
            </a:r>
          </a:p>
        </p:txBody>
      </p:sp>
      <p:sp>
        <p:nvSpPr>
          <p:cNvPr id="4" name="TextBox 3"/>
          <p:cNvSpPr txBox="1"/>
          <p:nvPr/>
        </p:nvSpPr>
        <p:spPr>
          <a:xfrm>
            <a:off x="457200" y="1691640"/>
            <a:ext cx="4781550" cy="3477875"/>
          </a:xfrm>
          <a:prstGeom prst="rect">
            <a:avLst/>
          </a:prstGeom>
          <a:noFill/>
        </p:spPr>
        <p:txBody>
          <a:bodyPr wrap="square">
            <a:spAutoFit/>
          </a:bodyPr>
          <a:lstStyle/>
          <a:p>
            <a:pPr>
              <a:spcBef>
                <a:spcPts val="400"/>
              </a:spcBef>
            </a:pPr>
            <a:r>
              <a:rPr sz="2000" dirty="0">
                <a:solidFill>
                  <a:srgbClr val="003057"/>
                </a:solidFill>
                <a:latin typeface="Arial"/>
              </a:rPr>
              <a:t>Every week: who's underpriced? Who's about to</a:t>
            </a:r>
            <a:r>
              <a:rPr lang="en-AU" sz="2000" dirty="0">
                <a:solidFill>
                  <a:srgbClr val="003057"/>
                </a:solidFill>
                <a:latin typeface="Arial"/>
              </a:rPr>
              <a:t> score big</a:t>
            </a:r>
            <a:r>
              <a:rPr sz="2000" dirty="0">
                <a:solidFill>
                  <a:srgbClr val="003057"/>
                </a:solidFill>
                <a:latin typeface="Arial"/>
              </a:rPr>
              <a:t>?</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800 players</a:t>
            </a:r>
            <a:r>
              <a:rPr lang="en-AU" sz="2000" dirty="0">
                <a:solidFill>
                  <a:srgbClr val="003057"/>
                </a:solidFill>
                <a:latin typeface="Arial"/>
              </a:rPr>
              <a:t>… it’s</a:t>
            </a:r>
            <a:r>
              <a:rPr sz="2000" dirty="0">
                <a:solidFill>
                  <a:srgbClr val="003057"/>
                </a:solidFill>
                <a:latin typeface="Arial"/>
              </a:rPr>
              <a:t> impossible to track manually</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Everyone else was using gut feel and Twitter hot takes</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I wanted an actual edge</a:t>
            </a:r>
          </a:p>
        </p:txBody>
      </p:sp>
      <p:pic>
        <p:nvPicPr>
          <p:cNvPr id="10" name="Picture 9">
            <a:extLst>
              <a:ext uri="{FF2B5EF4-FFF2-40B4-BE49-F238E27FC236}">
                <a16:creationId xmlns:a16="http://schemas.microsoft.com/office/drawing/2014/main" id="{B64F60CC-760D-5D65-7A5D-A147B7F92262}"/>
              </a:ext>
            </a:extLst>
          </p:cNvPr>
          <p:cNvPicPr>
            <a:picLocks noChangeAspect="1"/>
          </p:cNvPicPr>
          <p:nvPr/>
        </p:nvPicPr>
        <p:blipFill>
          <a:blip r:embed="rId3"/>
          <a:stretch>
            <a:fillRect/>
          </a:stretch>
        </p:blipFill>
        <p:spPr>
          <a:xfrm>
            <a:off x="6146800" y="1027430"/>
            <a:ext cx="5645150" cy="3442001"/>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822960"/>
          </a:xfrm>
          <a:prstGeom prst="rect">
            <a:avLst/>
          </a:prstGeom>
          <a:noFill/>
        </p:spPr>
        <p:txBody>
          <a:bodyPr wrap="square">
            <a:spAutoFit/>
          </a:bodyPr>
          <a:lstStyle/>
          <a:p>
            <a:pPr algn="l"/>
            <a:r>
              <a:rPr sz="3200" b="1">
                <a:solidFill>
                  <a:srgbClr val="003057"/>
                </a:solidFill>
                <a:latin typeface="Arial"/>
              </a:rPr>
              <a:t>I built a full analytics pipeline. From scratch.</a:t>
            </a:r>
          </a:p>
        </p:txBody>
      </p:sp>
      <p:sp>
        <p:nvSpPr>
          <p:cNvPr id="3" name="TextBox 2"/>
          <p:cNvSpPr txBox="1"/>
          <p:nvPr/>
        </p:nvSpPr>
        <p:spPr>
          <a:xfrm>
            <a:off x="457200" y="1097280"/>
            <a:ext cx="11247120" cy="457200"/>
          </a:xfrm>
          <a:prstGeom prst="rect">
            <a:avLst/>
          </a:prstGeom>
          <a:noFill/>
        </p:spPr>
        <p:txBody>
          <a:bodyPr wrap="square">
            <a:spAutoFit/>
          </a:bodyPr>
          <a:lstStyle/>
          <a:p>
            <a:pPr algn="l"/>
            <a:r>
              <a:rPr sz="1800" b="1">
                <a:solidFill>
                  <a:srgbClr val="6FB1C8"/>
                </a:solidFill>
                <a:latin typeface="Arial"/>
              </a:rPr>
              <a:t>Scrape → process → predict → publish.</a:t>
            </a:r>
          </a:p>
        </p:txBody>
      </p:sp>
      <p:sp>
        <p:nvSpPr>
          <p:cNvPr id="4" name="TextBox 3"/>
          <p:cNvSpPr txBox="1"/>
          <p:nvPr/>
        </p:nvSpPr>
        <p:spPr>
          <a:xfrm>
            <a:off x="457200" y="1691640"/>
            <a:ext cx="5397500" cy="5037276"/>
          </a:xfrm>
          <a:prstGeom prst="rect">
            <a:avLst/>
          </a:prstGeom>
          <a:noFill/>
        </p:spPr>
        <p:txBody>
          <a:bodyPr wrap="square">
            <a:spAutoFit/>
          </a:bodyPr>
          <a:lstStyle/>
          <a:p>
            <a:pPr>
              <a:spcBef>
                <a:spcPts val="400"/>
              </a:spcBef>
            </a:pPr>
            <a:r>
              <a:rPr dirty="0">
                <a:solidFill>
                  <a:srgbClr val="003057"/>
                </a:solidFill>
                <a:latin typeface="Arial"/>
              </a:rPr>
              <a:t>🔍  Scrape</a:t>
            </a:r>
            <a:r>
              <a:rPr lang="en-AU" dirty="0">
                <a:solidFill>
                  <a:srgbClr val="003057"/>
                </a:solidFill>
                <a:latin typeface="Arial"/>
              </a:rPr>
              <a:t>:</a:t>
            </a:r>
            <a:r>
              <a:rPr dirty="0">
                <a:solidFill>
                  <a:srgbClr val="003057"/>
                </a:solidFill>
                <a:latin typeface="Arial"/>
              </a:rPr>
              <a:t> </a:t>
            </a:r>
            <a:r>
              <a:rPr dirty="0" err="1">
                <a:solidFill>
                  <a:srgbClr val="003057"/>
                </a:solidFill>
                <a:latin typeface="Arial"/>
              </a:rPr>
              <a:t>FanFooty</a:t>
            </a:r>
            <a:r>
              <a:rPr dirty="0">
                <a:solidFill>
                  <a:srgbClr val="003057"/>
                </a:solidFill>
                <a:latin typeface="Arial"/>
              </a:rPr>
              <a:t> match data + </a:t>
            </a:r>
            <a:r>
              <a:rPr dirty="0" err="1">
                <a:solidFill>
                  <a:srgbClr val="003057"/>
                </a:solidFill>
                <a:latin typeface="Arial"/>
              </a:rPr>
              <a:t>SuperCoach</a:t>
            </a:r>
            <a:r>
              <a:rPr dirty="0">
                <a:solidFill>
                  <a:srgbClr val="003057"/>
                </a:solidFill>
                <a:latin typeface="Arial"/>
              </a:rPr>
              <a:t> API (every week, automated)</a:t>
            </a:r>
          </a:p>
          <a:p>
            <a:pPr>
              <a:spcBef>
                <a:spcPts val="400"/>
              </a:spcBef>
            </a:pPr>
            <a:r>
              <a:rPr dirty="0">
                <a:solidFill>
                  <a:srgbClr val="003057"/>
                </a:solidFill>
                <a:latin typeface="Arial"/>
              </a:rPr>
              <a:t>⚙️   Process  — clean, merge, engineer 76 features per player per round</a:t>
            </a:r>
          </a:p>
          <a:p>
            <a:pPr>
              <a:spcBef>
                <a:spcPts val="400"/>
              </a:spcBef>
            </a:pPr>
            <a:r>
              <a:rPr dirty="0">
                <a:solidFill>
                  <a:srgbClr val="003057"/>
                </a:solidFill>
                <a:latin typeface="Arial"/>
              </a:rPr>
              <a:t>🧠  Predict  — </a:t>
            </a:r>
            <a:r>
              <a:rPr dirty="0" err="1">
                <a:solidFill>
                  <a:srgbClr val="003057"/>
                </a:solidFill>
                <a:latin typeface="Arial"/>
              </a:rPr>
              <a:t>LightGBM</a:t>
            </a:r>
            <a:r>
              <a:rPr dirty="0">
                <a:solidFill>
                  <a:srgbClr val="003057"/>
                </a:solidFill>
                <a:latin typeface="Arial"/>
              </a:rPr>
              <a:t> ML model → player score forecasts</a:t>
            </a:r>
          </a:p>
          <a:p>
            <a:pPr>
              <a:spcBef>
                <a:spcPts val="400"/>
              </a:spcBef>
            </a:pPr>
            <a:r>
              <a:rPr dirty="0">
                <a:solidFill>
                  <a:srgbClr val="003057"/>
                </a:solidFill>
                <a:latin typeface="Arial"/>
              </a:rPr>
              <a:t>📬  Publish  — weekly newsletter + live web dashboard</a:t>
            </a:r>
            <a:endParaRPr lang="en-AU" dirty="0">
              <a:solidFill>
                <a:srgbClr val="003057"/>
              </a:solidFill>
              <a:latin typeface="Arial"/>
            </a:endParaRPr>
          </a:p>
          <a:p>
            <a:pPr>
              <a:spcBef>
                <a:spcPts val="400"/>
              </a:spcBef>
            </a:pPr>
            <a:endParaRPr lang="en-AU" dirty="0">
              <a:solidFill>
                <a:srgbClr val="003057"/>
              </a:solidFill>
              <a:latin typeface="Arial"/>
            </a:endParaRPr>
          </a:p>
          <a:p>
            <a:pPr>
              <a:spcBef>
                <a:spcPts val="400"/>
              </a:spcBef>
            </a:pPr>
            <a:r>
              <a:rPr lang="en-US" dirty="0">
                <a:solidFill>
                  <a:srgbClr val="003057"/>
                </a:solidFill>
                <a:latin typeface="Arial"/>
              </a:rPr>
              <a:t>💬 Pop Quiz: </a:t>
            </a:r>
          </a:p>
          <a:p>
            <a:pPr>
              <a:spcBef>
                <a:spcPts val="400"/>
              </a:spcBef>
            </a:pPr>
            <a:r>
              <a:rPr lang="en-US" dirty="0">
                <a:solidFill>
                  <a:srgbClr val="003057"/>
                </a:solidFill>
                <a:latin typeface="Arial"/>
              </a:rPr>
              <a:t>Q: In Moneyball what stat did they use instead of batting average? </a:t>
            </a:r>
          </a:p>
          <a:p>
            <a:pPr>
              <a:spcBef>
                <a:spcPts val="400"/>
              </a:spcBef>
            </a:pPr>
            <a:r>
              <a:rPr lang="en-US" dirty="0">
                <a:solidFill>
                  <a:srgbClr val="003057"/>
                </a:solidFill>
                <a:latin typeface="Arial"/>
              </a:rPr>
              <a:t>A: → On-base %.</a:t>
            </a:r>
          </a:p>
          <a:p>
            <a:pPr>
              <a:spcBef>
                <a:spcPts val="400"/>
              </a:spcBef>
            </a:pPr>
            <a:r>
              <a:rPr lang="en-US" dirty="0">
                <a:solidFill>
                  <a:srgbClr val="003057"/>
                </a:solidFill>
                <a:latin typeface="Arial"/>
              </a:rPr>
              <a:t>Q: What is the </a:t>
            </a:r>
            <a:r>
              <a:rPr lang="en-US" dirty="0" err="1">
                <a:solidFill>
                  <a:srgbClr val="003057"/>
                </a:solidFill>
                <a:latin typeface="Arial"/>
              </a:rPr>
              <a:t>SuperCoach</a:t>
            </a:r>
            <a:r>
              <a:rPr lang="en-US" dirty="0">
                <a:solidFill>
                  <a:srgbClr val="003057"/>
                </a:solidFill>
                <a:latin typeface="Arial"/>
              </a:rPr>
              <a:t> Draft equivalent? </a:t>
            </a:r>
          </a:p>
          <a:p>
            <a:pPr>
              <a:spcBef>
                <a:spcPts val="400"/>
              </a:spcBef>
            </a:pPr>
            <a:r>
              <a:rPr lang="en-US" dirty="0">
                <a:solidFill>
                  <a:srgbClr val="003057"/>
                </a:solidFill>
                <a:latin typeface="Arial"/>
              </a:rPr>
              <a:t>A: How often a player scores 100+.</a:t>
            </a:r>
          </a:p>
          <a:p>
            <a:pPr>
              <a:spcBef>
                <a:spcPts val="400"/>
              </a:spcBef>
            </a:pPr>
            <a:endParaRPr dirty="0">
              <a:solidFill>
                <a:srgbClr val="003057"/>
              </a:solidFill>
              <a:latin typeface="Arial"/>
            </a:endParaRPr>
          </a:p>
        </p:txBody>
      </p:sp>
      <p:pic>
        <p:nvPicPr>
          <p:cNvPr id="6" name="Picture 5">
            <a:extLst>
              <a:ext uri="{FF2B5EF4-FFF2-40B4-BE49-F238E27FC236}">
                <a16:creationId xmlns:a16="http://schemas.microsoft.com/office/drawing/2014/main" id="{86C1FF4D-47BD-77E1-909A-F0475B31C5B1}"/>
              </a:ext>
            </a:extLst>
          </p:cNvPr>
          <p:cNvPicPr>
            <a:picLocks noChangeAspect="1"/>
          </p:cNvPicPr>
          <p:nvPr/>
        </p:nvPicPr>
        <p:blipFill>
          <a:blip r:embed="rId3"/>
          <a:stretch>
            <a:fillRect/>
          </a:stretch>
        </p:blipFill>
        <p:spPr>
          <a:xfrm>
            <a:off x="6625430" y="1008380"/>
            <a:ext cx="4452938" cy="2155900"/>
          </a:xfrm>
          <a:prstGeom prst="rect">
            <a:avLst/>
          </a:prstGeom>
          <a:ln>
            <a:noFill/>
          </a:ln>
          <a:effectLst>
            <a:outerShdw blurRad="292100" dist="139700" dir="2700000" algn="tl" rotWithShape="0">
              <a:srgbClr val="333333">
                <a:alpha val="65000"/>
              </a:srgbClr>
            </a:outerShdw>
          </a:effectLst>
        </p:spPr>
      </p:pic>
      <p:sp>
        <p:nvSpPr>
          <p:cNvPr id="8" name="Arrow: Down 7">
            <a:extLst>
              <a:ext uri="{FF2B5EF4-FFF2-40B4-BE49-F238E27FC236}">
                <a16:creationId xmlns:a16="http://schemas.microsoft.com/office/drawing/2014/main" id="{104A52F8-943C-27F3-A1E4-491892563557}"/>
              </a:ext>
            </a:extLst>
          </p:cNvPr>
          <p:cNvSpPr/>
          <p:nvPr/>
        </p:nvSpPr>
        <p:spPr>
          <a:xfrm>
            <a:off x="8616948" y="3253180"/>
            <a:ext cx="273050" cy="406400"/>
          </a:xfrm>
          <a:prstGeom prst="downArrow">
            <a:avLst/>
          </a:prstGeom>
          <a:solidFill>
            <a:srgbClr val="0030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0" name="Picture 9">
            <a:extLst>
              <a:ext uri="{FF2B5EF4-FFF2-40B4-BE49-F238E27FC236}">
                <a16:creationId xmlns:a16="http://schemas.microsoft.com/office/drawing/2014/main" id="{3DAD04BB-D9EC-3070-BF3A-9523635EBB3E}"/>
              </a:ext>
            </a:extLst>
          </p:cNvPr>
          <p:cNvPicPr>
            <a:picLocks noChangeAspect="1"/>
          </p:cNvPicPr>
          <p:nvPr/>
        </p:nvPicPr>
        <p:blipFill>
          <a:blip r:embed="rId4"/>
          <a:stretch>
            <a:fillRect/>
          </a:stretch>
        </p:blipFill>
        <p:spPr>
          <a:xfrm>
            <a:off x="7313612" y="3762450"/>
            <a:ext cx="3076575" cy="895350"/>
          </a:xfrm>
          <a:prstGeom prst="rect">
            <a:avLst/>
          </a:prstGeom>
          <a:ln>
            <a:noFill/>
          </a:ln>
          <a:effectLst>
            <a:outerShdw blurRad="292100" dist="139700" dir="2700000" algn="tl" rotWithShape="0">
              <a:srgbClr val="333333">
                <a:alpha val="65000"/>
              </a:srgbClr>
            </a:outerShdw>
          </a:effectLst>
        </p:spPr>
      </p:pic>
      <p:sp>
        <p:nvSpPr>
          <p:cNvPr id="11" name="Arrow: Down 10">
            <a:extLst>
              <a:ext uri="{FF2B5EF4-FFF2-40B4-BE49-F238E27FC236}">
                <a16:creationId xmlns:a16="http://schemas.microsoft.com/office/drawing/2014/main" id="{CB941482-144E-C392-0614-DFF488EFB5D5}"/>
              </a:ext>
            </a:extLst>
          </p:cNvPr>
          <p:cNvSpPr/>
          <p:nvPr/>
        </p:nvSpPr>
        <p:spPr>
          <a:xfrm rot="2670761">
            <a:off x="8299449" y="4695214"/>
            <a:ext cx="273050" cy="406400"/>
          </a:xfrm>
          <a:prstGeom prst="downArrow">
            <a:avLst/>
          </a:prstGeom>
          <a:solidFill>
            <a:srgbClr val="0030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Arrow: Down 11">
            <a:extLst>
              <a:ext uri="{FF2B5EF4-FFF2-40B4-BE49-F238E27FC236}">
                <a16:creationId xmlns:a16="http://schemas.microsoft.com/office/drawing/2014/main" id="{C93707E9-C2AA-A816-749D-0A922CA7B485}"/>
              </a:ext>
            </a:extLst>
          </p:cNvPr>
          <p:cNvSpPr/>
          <p:nvPr/>
        </p:nvSpPr>
        <p:spPr>
          <a:xfrm rot="18989532">
            <a:off x="8918635" y="4694460"/>
            <a:ext cx="273050" cy="406400"/>
          </a:xfrm>
          <a:prstGeom prst="downArrow">
            <a:avLst/>
          </a:prstGeom>
          <a:solidFill>
            <a:srgbClr val="0030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4" name="Picture 13">
            <a:extLst>
              <a:ext uri="{FF2B5EF4-FFF2-40B4-BE49-F238E27FC236}">
                <a16:creationId xmlns:a16="http://schemas.microsoft.com/office/drawing/2014/main" id="{FA969C57-4E95-78D3-21C7-0B4380BE5954}"/>
              </a:ext>
            </a:extLst>
          </p:cNvPr>
          <p:cNvPicPr>
            <a:picLocks noChangeAspect="1"/>
          </p:cNvPicPr>
          <p:nvPr/>
        </p:nvPicPr>
        <p:blipFill>
          <a:blip r:embed="rId5"/>
          <a:stretch>
            <a:fillRect/>
          </a:stretch>
        </p:blipFill>
        <p:spPr>
          <a:xfrm>
            <a:off x="6625430" y="5141488"/>
            <a:ext cx="1912230" cy="1416263"/>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290DC0AC-1100-EE2A-7371-B2E51F171993}"/>
              </a:ext>
            </a:extLst>
          </p:cNvPr>
          <p:cNvPicPr>
            <a:picLocks noChangeAspect="1"/>
          </p:cNvPicPr>
          <p:nvPr/>
        </p:nvPicPr>
        <p:blipFill>
          <a:blip r:embed="rId6"/>
          <a:stretch>
            <a:fillRect/>
          </a:stretch>
        </p:blipFill>
        <p:spPr>
          <a:xfrm>
            <a:off x="8753473" y="5255970"/>
            <a:ext cx="3190875" cy="126053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3057"/>
        </a:solidFill>
        <a:effectLst/>
      </p:bgPr>
    </p:bg>
    <p:spTree>
      <p:nvGrpSpPr>
        <p:cNvPr id="1" name=""/>
        <p:cNvGrpSpPr/>
        <p:nvPr/>
      </p:nvGrpSpPr>
      <p:grpSpPr>
        <a:xfrm>
          <a:off x="0" y="0"/>
          <a:ext cx="0" cy="0"/>
          <a:chOff x="0" y="0"/>
          <a:chExt cx="0" cy="0"/>
        </a:xfrm>
      </p:grpSpPr>
      <p:sp>
        <p:nvSpPr>
          <p:cNvPr id="2" name="TextBox 1"/>
          <p:cNvSpPr txBox="1"/>
          <p:nvPr/>
        </p:nvSpPr>
        <p:spPr>
          <a:xfrm>
            <a:off x="548640" y="2011680"/>
            <a:ext cx="10972800" cy="1569660"/>
          </a:xfrm>
          <a:prstGeom prst="rect">
            <a:avLst/>
          </a:prstGeom>
          <a:noFill/>
        </p:spPr>
        <p:txBody>
          <a:bodyPr wrap="square">
            <a:spAutoFit/>
          </a:bodyPr>
          <a:lstStyle/>
          <a:p>
            <a:pPr algn="l"/>
            <a:r>
              <a:rPr lang="en-AU" sz="4800" b="1" dirty="0">
                <a:solidFill>
                  <a:srgbClr val="FFFFFF"/>
                </a:solidFill>
                <a:latin typeface="Arial"/>
              </a:rPr>
              <a:t>Does it actually work?</a:t>
            </a:r>
          </a:p>
          <a:p>
            <a:pPr algn="l"/>
            <a:r>
              <a:rPr sz="4800" b="1" dirty="0">
                <a:solidFill>
                  <a:srgbClr val="FFFFFF"/>
                </a:solidFill>
                <a:latin typeface="Arial"/>
              </a:rPr>
              <a:t>Let me show you.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822960"/>
          </a:xfrm>
          <a:prstGeom prst="rect">
            <a:avLst/>
          </a:prstGeom>
          <a:noFill/>
        </p:spPr>
        <p:txBody>
          <a:bodyPr wrap="square">
            <a:spAutoFit/>
          </a:bodyPr>
          <a:lstStyle/>
          <a:p>
            <a:pPr algn="l"/>
            <a:r>
              <a:rPr sz="3200" b="1">
                <a:solidFill>
                  <a:srgbClr val="003057"/>
                </a:solidFill>
                <a:latin typeface="Arial"/>
              </a:rPr>
              <a:t>The parallels are pretty clear.</a:t>
            </a:r>
          </a:p>
        </p:txBody>
      </p:sp>
      <p:sp>
        <p:nvSpPr>
          <p:cNvPr id="3" name="TextBox 2"/>
          <p:cNvSpPr txBox="1"/>
          <p:nvPr/>
        </p:nvSpPr>
        <p:spPr>
          <a:xfrm>
            <a:off x="457200" y="1097280"/>
            <a:ext cx="11247120" cy="369332"/>
          </a:xfrm>
          <a:prstGeom prst="rect">
            <a:avLst/>
          </a:prstGeom>
          <a:noFill/>
        </p:spPr>
        <p:txBody>
          <a:bodyPr wrap="square">
            <a:spAutoFit/>
          </a:bodyPr>
          <a:lstStyle/>
          <a:p>
            <a:pPr algn="l"/>
            <a:r>
              <a:rPr sz="1800" b="1" dirty="0">
                <a:solidFill>
                  <a:srgbClr val="6FB1C8"/>
                </a:solidFill>
                <a:latin typeface="Arial"/>
              </a:rPr>
              <a:t>Data beats gut feel</a:t>
            </a:r>
          </a:p>
        </p:txBody>
      </p:sp>
      <p:sp>
        <p:nvSpPr>
          <p:cNvPr id="4" name="TextBox 3"/>
          <p:cNvSpPr txBox="1"/>
          <p:nvPr/>
        </p:nvSpPr>
        <p:spPr>
          <a:xfrm>
            <a:off x="457200" y="1691640"/>
            <a:ext cx="11247120" cy="2195473"/>
          </a:xfrm>
          <a:prstGeom prst="rect">
            <a:avLst/>
          </a:prstGeom>
          <a:noFill/>
        </p:spPr>
        <p:txBody>
          <a:bodyPr wrap="square">
            <a:spAutoFit/>
          </a:bodyPr>
          <a:lstStyle/>
          <a:p>
            <a:pPr>
              <a:spcBef>
                <a:spcPts val="400"/>
              </a:spcBef>
            </a:pPr>
            <a:r>
              <a:rPr sz="2000" dirty="0">
                <a:solidFill>
                  <a:srgbClr val="003057"/>
                </a:solidFill>
                <a:latin typeface="Arial"/>
              </a:rPr>
              <a:t>Moneyball: scouts used gut feel  →  SC: coaches use Twitter hot takes</a:t>
            </a:r>
          </a:p>
          <a:p>
            <a:pPr>
              <a:spcBef>
                <a:spcPts val="400"/>
              </a:spcBef>
            </a:pPr>
            <a:r>
              <a:rPr sz="2000" dirty="0">
                <a:solidFill>
                  <a:srgbClr val="003057"/>
                </a:solidFill>
                <a:latin typeface="Arial"/>
              </a:rPr>
              <a:t>Moneyball: on-base % (OBP)       →  SC: Ceiling Index (CI%)</a:t>
            </a:r>
          </a:p>
          <a:p>
            <a:pPr>
              <a:spcBef>
                <a:spcPts val="400"/>
              </a:spcBef>
            </a:pPr>
            <a:r>
              <a:rPr sz="2000" dirty="0">
                <a:solidFill>
                  <a:srgbClr val="003057"/>
                </a:solidFill>
                <a:latin typeface="Arial"/>
              </a:rPr>
              <a:t>Moneyball: undervalued players   →  SC: underpriced free agents</a:t>
            </a:r>
          </a:p>
          <a:p>
            <a:pPr>
              <a:spcBef>
                <a:spcPts val="400"/>
              </a:spcBef>
            </a:pPr>
            <a:r>
              <a:rPr sz="2000" dirty="0">
                <a:solidFill>
                  <a:srgbClr val="003057"/>
                </a:solidFill>
                <a:latin typeface="Arial"/>
              </a:rPr>
              <a:t>Moneyball: systematic selection  →  SC: weekly newsletter picks</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 Q: Where </a:t>
            </a:r>
            <a:r>
              <a:rPr lang="en-AU" sz="2000" dirty="0">
                <a:solidFill>
                  <a:srgbClr val="003057"/>
                </a:solidFill>
                <a:latin typeface="Arial"/>
              </a:rPr>
              <a:t>at Reece </a:t>
            </a:r>
            <a:r>
              <a:rPr sz="2000" dirty="0">
                <a:solidFill>
                  <a:srgbClr val="003057"/>
                </a:solidFill>
                <a:latin typeface="Arial"/>
              </a:rPr>
              <a:t>are </a:t>
            </a:r>
            <a:r>
              <a:rPr lang="en-AU" sz="2000" dirty="0">
                <a:solidFill>
                  <a:srgbClr val="003057"/>
                </a:solidFill>
                <a:latin typeface="Arial"/>
              </a:rPr>
              <a:t>we </a:t>
            </a:r>
            <a:r>
              <a:rPr sz="2000" dirty="0">
                <a:solidFill>
                  <a:srgbClr val="003057"/>
                </a:solidFill>
                <a:latin typeface="Arial"/>
              </a:rPr>
              <a:t>still relying on gut feel?</a:t>
            </a:r>
            <a:r>
              <a:rPr lang="en-AU" sz="2000" dirty="0">
                <a:solidFill>
                  <a:srgbClr val="003057"/>
                </a:solidFill>
                <a:latin typeface="Arial"/>
              </a:rPr>
              <a:t> </a:t>
            </a:r>
            <a:endParaRPr sz="2000" dirty="0">
              <a:solidFill>
                <a:srgbClr val="003057"/>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584775"/>
          </a:xfrm>
          <a:prstGeom prst="rect">
            <a:avLst/>
          </a:prstGeom>
          <a:noFill/>
        </p:spPr>
        <p:txBody>
          <a:bodyPr wrap="square">
            <a:spAutoFit/>
          </a:bodyPr>
          <a:lstStyle/>
          <a:p>
            <a:pPr algn="l"/>
            <a:r>
              <a:rPr lang="en-AU" sz="3200" b="1" dirty="0">
                <a:solidFill>
                  <a:srgbClr val="003057"/>
                </a:solidFill>
                <a:latin typeface="Arial"/>
              </a:rPr>
              <a:t>S</a:t>
            </a:r>
            <a:r>
              <a:rPr sz="3200" b="1" dirty="0">
                <a:solidFill>
                  <a:srgbClr val="003057"/>
                </a:solidFill>
                <a:latin typeface="Arial"/>
              </a:rPr>
              <a:t>kill</a:t>
            </a:r>
            <a:r>
              <a:rPr lang="en-AU" sz="3200" b="1" dirty="0">
                <a:solidFill>
                  <a:srgbClr val="003057"/>
                </a:solidFill>
                <a:latin typeface="Arial"/>
              </a:rPr>
              <a:t>s</a:t>
            </a:r>
            <a:r>
              <a:rPr sz="3200" b="1" dirty="0">
                <a:solidFill>
                  <a:srgbClr val="003057"/>
                </a:solidFill>
                <a:latin typeface="Arial"/>
              </a:rPr>
              <a:t> here </a:t>
            </a:r>
            <a:r>
              <a:rPr lang="en-AU" sz="3200" b="1" dirty="0">
                <a:solidFill>
                  <a:srgbClr val="003057"/>
                </a:solidFill>
                <a:latin typeface="Arial"/>
              </a:rPr>
              <a:t>can </a:t>
            </a:r>
            <a:r>
              <a:rPr sz="3200" b="1" dirty="0">
                <a:solidFill>
                  <a:srgbClr val="003057"/>
                </a:solidFill>
                <a:latin typeface="Arial"/>
              </a:rPr>
              <a:t>map</a:t>
            </a:r>
            <a:r>
              <a:rPr lang="en-AU" sz="3200" b="1" dirty="0">
                <a:solidFill>
                  <a:srgbClr val="003057"/>
                </a:solidFill>
                <a:latin typeface="Arial"/>
              </a:rPr>
              <a:t> </a:t>
            </a:r>
            <a:r>
              <a:rPr sz="3200" b="1" dirty="0">
                <a:solidFill>
                  <a:srgbClr val="003057"/>
                </a:solidFill>
                <a:latin typeface="Arial"/>
              </a:rPr>
              <a:t>to </a:t>
            </a:r>
            <a:r>
              <a:rPr lang="en-AU" sz="3200" b="1" dirty="0">
                <a:solidFill>
                  <a:srgbClr val="003057"/>
                </a:solidFill>
                <a:latin typeface="Arial"/>
              </a:rPr>
              <a:t>our </a:t>
            </a:r>
            <a:r>
              <a:rPr sz="3200" b="1" dirty="0">
                <a:solidFill>
                  <a:srgbClr val="003057"/>
                </a:solidFill>
                <a:latin typeface="Arial"/>
              </a:rPr>
              <a:t>work.</a:t>
            </a:r>
          </a:p>
        </p:txBody>
      </p:sp>
      <p:sp>
        <p:nvSpPr>
          <p:cNvPr id="3" name="TextBox 2"/>
          <p:cNvSpPr txBox="1"/>
          <p:nvPr/>
        </p:nvSpPr>
        <p:spPr>
          <a:xfrm>
            <a:off x="457200" y="1097280"/>
            <a:ext cx="11247120" cy="369332"/>
          </a:xfrm>
          <a:prstGeom prst="rect">
            <a:avLst/>
          </a:prstGeom>
          <a:noFill/>
        </p:spPr>
        <p:txBody>
          <a:bodyPr wrap="square">
            <a:spAutoFit/>
          </a:bodyPr>
          <a:lstStyle/>
          <a:p>
            <a:pPr algn="l"/>
            <a:r>
              <a:rPr lang="en-AU" sz="1800" b="1" dirty="0">
                <a:solidFill>
                  <a:srgbClr val="6FB1C8"/>
                </a:solidFill>
                <a:latin typeface="Arial"/>
              </a:rPr>
              <a:t>Personal projects aren’t</a:t>
            </a:r>
            <a:r>
              <a:rPr sz="1800" b="1" dirty="0">
                <a:solidFill>
                  <a:srgbClr val="6FB1C8"/>
                </a:solidFill>
                <a:latin typeface="Arial"/>
              </a:rPr>
              <a:t> </a:t>
            </a:r>
            <a:r>
              <a:rPr lang="en-AU" sz="1800" b="1" dirty="0">
                <a:solidFill>
                  <a:srgbClr val="6FB1C8"/>
                </a:solidFill>
                <a:latin typeface="Arial"/>
              </a:rPr>
              <a:t>reall</a:t>
            </a:r>
            <a:r>
              <a:rPr lang="en-AU" b="1" dirty="0">
                <a:solidFill>
                  <a:srgbClr val="6FB1C8"/>
                </a:solidFill>
                <a:latin typeface="Arial"/>
              </a:rPr>
              <a:t>y just personal </a:t>
            </a:r>
            <a:r>
              <a:rPr sz="1800" b="1" dirty="0">
                <a:solidFill>
                  <a:srgbClr val="6FB1C8"/>
                </a:solidFill>
                <a:latin typeface="Arial"/>
              </a:rPr>
              <a:t>project</a:t>
            </a:r>
            <a:r>
              <a:rPr lang="en-AU" sz="1800" b="1" dirty="0">
                <a:solidFill>
                  <a:srgbClr val="6FB1C8"/>
                </a:solidFill>
                <a:latin typeface="Arial"/>
              </a:rPr>
              <a:t>s</a:t>
            </a:r>
            <a:r>
              <a:rPr sz="1800" b="1" dirty="0">
                <a:solidFill>
                  <a:srgbClr val="6FB1C8"/>
                </a:solidFill>
                <a:latin typeface="Arial"/>
              </a:rPr>
              <a:t>.</a:t>
            </a:r>
          </a:p>
        </p:txBody>
      </p:sp>
      <p:sp>
        <p:nvSpPr>
          <p:cNvPr id="4" name="TextBox 3"/>
          <p:cNvSpPr txBox="1"/>
          <p:nvPr/>
        </p:nvSpPr>
        <p:spPr>
          <a:xfrm>
            <a:off x="457200" y="1691640"/>
            <a:ext cx="11247120" cy="3272691"/>
          </a:xfrm>
          <a:prstGeom prst="rect">
            <a:avLst/>
          </a:prstGeom>
          <a:noFill/>
        </p:spPr>
        <p:txBody>
          <a:bodyPr wrap="square">
            <a:spAutoFit/>
          </a:bodyPr>
          <a:lstStyle/>
          <a:p>
            <a:pPr>
              <a:spcBef>
                <a:spcPts val="400"/>
              </a:spcBef>
            </a:pPr>
            <a:r>
              <a:rPr sz="2000" dirty="0">
                <a:solidFill>
                  <a:srgbClr val="003057"/>
                </a:solidFill>
                <a:latin typeface="Arial"/>
              </a:rPr>
              <a:t>Web scraping       →  API integrations, data extraction tasks</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Data pipelines     →  Power Automate flows, ETL, Power BI refreshes</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Machine learning   →  forecasting, classification, anomaly detection</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Flask dashboard    →  internal reporting tools, lightweight web apps</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Automated reports  →  a</a:t>
            </a:r>
            <a:r>
              <a:rPr lang="en-AU" sz="2000" dirty="0">
                <a:solidFill>
                  <a:srgbClr val="003057"/>
                </a:solidFill>
                <a:latin typeface="Arial"/>
              </a:rPr>
              <a:t> </a:t>
            </a:r>
            <a:r>
              <a:rPr sz="2000" dirty="0">
                <a:solidFill>
                  <a:srgbClr val="003057"/>
                </a:solidFill>
                <a:latin typeface="Arial"/>
              </a:rPr>
              <a:t>scheduled </a:t>
            </a:r>
            <a:r>
              <a:rPr lang="en-AU" sz="2000" dirty="0">
                <a:solidFill>
                  <a:srgbClr val="003057"/>
                </a:solidFill>
                <a:latin typeface="Arial"/>
              </a:rPr>
              <a:t>email </a:t>
            </a:r>
            <a:r>
              <a:rPr sz="2000" dirty="0">
                <a:solidFill>
                  <a:srgbClr val="003057"/>
                </a:solidFill>
                <a:latin typeface="Arial"/>
              </a:rPr>
              <a:t>or report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584775"/>
          </a:xfrm>
          <a:prstGeom prst="rect">
            <a:avLst/>
          </a:prstGeom>
          <a:noFill/>
        </p:spPr>
        <p:txBody>
          <a:bodyPr wrap="square">
            <a:spAutoFit/>
          </a:bodyPr>
          <a:lstStyle/>
          <a:p>
            <a:pPr algn="l"/>
            <a:r>
              <a:rPr sz="3200" b="1" dirty="0">
                <a:solidFill>
                  <a:srgbClr val="003057"/>
                </a:solidFill>
                <a:latin typeface="Arial"/>
              </a:rPr>
              <a:t>How to start</a:t>
            </a:r>
            <a:r>
              <a:rPr lang="en-AU" sz="3200" b="1" dirty="0">
                <a:solidFill>
                  <a:srgbClr val="003057"/>
                </a:solidFill>
                <a:latin typeface="Arial"/>
              </a:rPr>
              <a:t>.</a:t>
            </a:r>
            <a:endParaRPr sz="3200" b="1" dirty="0">
              <a:solidFill>
                <a:srgbClr val="003057"/>
              </a:solidFill>
              <a:latin typeface="Arial"/>
            </a:endParaRPr>
          </a:p>
        </p:txBody>
      </p:sp>
      <p:sp>
        <p:nvSpPr>
          <p:cNvPr id="3" name="TextBox 2"/>
          <p:cNvSpPr txBox="1"/>
          <p:nvPr/>
        </p:nvSpPr>
        <p:spPr>
          <a:xfrm>
            <a:off x="457200" y="1097280"/>
            <a:ext cx="11247120" cy="457200"/>
          </a:xfrm>
          <a:prstGeom prst="rect">
            <a:avLst/>
          </a:prstGeom>
          <a:noFill/>
        </p:spPr>
        <p:txBody>
          <a:bodyPr wrap="square">
            <a:spAutoFit/>
          </a:bodyPr>
          <a:lstStyle/>
          <a:p>
            <a:pPr algn="l"/>
            <a:r>
              <a:rPr sz="1800" b="1">
                <a:solidFill>
                  <a:srgbClr val="6FB1C8"/>
                </a:solidFill>
                <a:latin typeface="Arial"/>
              </a:rPr>
              <a:t>Start small. Stay curious.</a:t>
            </a:r>
          </a:p>
        </p:txBody>
      </p:sp>
      <p:sp>
        <p:nvSpPr>
          <p:cNvPr id="4" name="TextBox 3"/>
          <p:cNvSpPr txBox="1"/>
          <p:nvPr/>
        </p:nvSpPr>
        <p:spPr>
          <a:xfrm>
            <a:off x="457200" y="1691640"/>
            <a:ext cx="11247120" cy="3990836"/>
          </a:xfrm>
          <a:prstGeom prst="rect">
            <a:avLst/>
          </a:prstGeom>
          <a:noFill/>
        </p:spPr>
        <p:txBody>
          <a:bodyPr wrap="square">
            <a:spAutoFit/>
          </a:bodyPr>
          <a:lstStyle/>
          <a:p>
            <a:pPr>
              <a:spcBef>
                <a:spcPts val="400"/>
              </a:spcBef>
            </a:pPr>
            <a:r>
              <a:rPr sz="2000" dirty="0">
                <a:solidFill>
                  <a:srgbClr val="003057"/>
                </a:solidFill>
                <a:latin typeface="Arial"/>
              </a:rPr>
              <a:t>Pick a problem you actually care about — sport, finance, music, travel, anything</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Build the scraper or the CSV first. One step at a time.</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Use Claude or ChatGPT to help you write the code — you don't need to know everything</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Share it. Even half-finished. That's how you learn.</a:t>
            </a:r>
            <a:endParaRPr lang="en-AU" sz="2000" dirty="0">
              <a:solidFill>
                <a:srgbClr val="003057"/>
              </a:solidFill>
              <a:latin typeface="Arial"/>
            </a:endParaRPr>
          </a:p>
          <a:p>
            <a:pPr>
              <a:spcBef>
                <a:spcPts val="400"/>
              </a:spcBef>
            </a:pPr>
            <a:endParaRPr sz="2000" dirty="0">
              <a:solidFill>
                <a:srgbClr val="003057"/>
              </a:solidFill>
              <a:latin typeface="Arial"/>
            </a:endParaRPr>
          </a:p>
          <a:p>
            <a:pPr>
              <a:spcBef>
                <a:spcPts val="400"/>
              </a:spcBef>
            </a:pPr>
            <a:r>
              <a:rPr sz="2000" dirty="0">
                <a:solidFill>
                  <a:srgbClr val="003057"/>
                </a:solidFill>
                <a:latin typeface="Arial"/>
              </a:rPr>
              <a:t>🙋 Who here has a project idea they've been sitting on?</a:t>
            </a:r>
            <a:endParaRPr lang="en-AU" sz="2000" dirty="0">
              <a:solidFill>
                <a:srgbClr val="003057"/>
              </a:solidFill>
              <a:latin typeface="Arial"/>
            </a:endParaRPr>
          </a:p>
          <a:p>
            <a:pPr>
              <a:spcBef>
                <a:spcPts val="400"/>
              </a:spcBef>
            </a:pPr>
            <a:endParaRPr lang="en-AU" sz="2000" dirty="0">
              <a:solidFill>
                <a:srgbClr val="003057"/>
              </a:solidFill>
              <a:latin typeface="Arial"/>
            </a:endParaRPr>
          </a:p>
          <a:p>
            <a:pPr>
              <a:spcBef>
                <a:spcPts val="400"/>
              </a:spcBef>
            </a:pPr>
            <a:r>
              <a:rPr lang="en-AU" sz="2000" dirty="0">
                <a:solidFill>
                  <a:srgbClr val="003057"/>
                </a:solidFill>
                <a:latin typeface="Arial"/>
              </a:rPr>
              <a:t>Thanks team! </a:t>
            </a:r>
            <a:r>
              <a:rPr lang="en-AU" sz="2000" dirty="0">
                <a:solidFill>
                  <a:srgbClr val="003057"/>
                </a:solidFill>
                <a:latin typeface="Arial"/>
                <a:sym typeface="Wingdings" panose="05000000000000000000" pitchFamily="2" charset="2"/>
              </a:rPr>
              <a:t>🙂</a:t>
            </a:r>
            <a:endParaRPr sz="2000" dirty="0">
              <a:solidFill>
                <a:srgbClr val="003057"/>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TotalTime>
  <Words>1333</Words>
  <Application>Microsoft Office PowerPoint</Application>
  <PresentationFormat>Custom</PresentationFormat>
  <Paragraphs>93</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Mark Richards</cp:lastModifiedBy>
  <cp:revision>2</cp:revision>
  <dcterms:created xsi:type="dcterms:W3CDTF">2013-01-27T09:14:16Z</dcterms:created>
  <dcterms:modified xsi:type="dcterms:W3CDTF">2026-04-19T12:07:01Z</dcterms:modified>
  <cp:category/>
</cp:coreProperties>
</file>